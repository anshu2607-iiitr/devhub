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347472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MPLADS VIGIL</a:t>
            </a:r>
          </a:p>
          <a:p>
            <a:pPr>
              <a:defRPr sz="2200" b="1">
                <a:solidFill>
                  <a:srgbClr val="06B6D4"/>
                </a:solidFill>
              </a:defRPr>
            </a:pPr>
            <a:r>
              <a:t>AI-Powered Risk Intelligence Platform for MPLADS Monitoring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Autonomous Financial Leakage Detection, Computer Vision Progress Audit &amp; Multi-Portal Vigilance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3383280" cy="18288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Multi-Modal AI Audit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Combines Computer Vision, Geospatial GPS, Financial Z-Scores, and NLP Citizen Feedback.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114800"/>
            <a:ext cx="3383280" cy="18288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0-100 Explainable Risk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Composite real-time anomaly score with plain-language XAI justifications for auditors.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114800"/>
            <a:ext cx="3383280" cy="18288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3 Integrated Portals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Citizen Verification, Contractor Geo-Photo Ingestion, and District Authority Action Console.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8686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 bIns="73152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SLIDE 2 — PROPOSED SOLUTION &amp; INNOVATION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Idea Title: AI-Powered Risk Intelligence Platform for MPLADS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94415" cy="13258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END-TO-END MULTI-MODAL PIPELINE ARCHITECTURE FLOWCHART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841248"/>
          </a:xfrm>
          <a:prstGeom prst="roundRect">
            <a:avLst/>
          </a:prstGeom>
          <a:solidFill>
            <a:srgbClr val="0D132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1. Multi-Portal Ingestion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Contractor App (Geo/Time Camera)</a:t>
            </a:r>
            <a:br/>
            <a:r>
              <a:t>Citizen Feedback App (Credibility)</a:t>
            </a:r>
            <a:br/>
            <a:r>
              <a:t>MoSPI Sanction &amp; Limit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14600" cy="841248"/>
          </a:xfrm>
          <a:prstGeom prst="roundRect">
            <a:avLst/>
          </a:prstGeom>
          <a:solidFill>
            <a:srgbClr val="0D132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2. Multi-Vector AI Engine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Computer Vision (Duplicate/Progress)</a:t>
            </a:r>
            <a:br/>
            <a:r>
              <a:t>Geospatial &amp; Timeline Audit</a:t>
            </a:r>
            <a:br/>
            <a:r>
              <a:t>Financial Poisson &amp; Cost Z-Scores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14600" cy="841248"/>
          </a:xfrm>
          <a:prstGeom prst="roundRect">
            <a:avLst/>
          </a:prstGeom>
          <a:solidFill>
            <a:srgbClr val="0D13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3. Composite Risk Scorer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0-100 Dynamic Risk Index</a:t>
            </a:r>
            <a:br/>
            <a:r>
              <a:t>SHAP-Aligned Local Feature XAI</a:t>
            </a:r>
            <a:br/>
            <a:r>
              <a:t>Natural Language Explainable Chatbot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14600" cy="841248"/>
          </a:xfrm>
          <a:prstGeom prst="roundRect">
            <a:avLst/>
          </a:prstGeom>
          <a:solidFill>
            <a:srgbClr val="0D13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4. Authority Action Console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Ranked Prioritization for Spot-Checks</a:t>
            </a:r>
            <a:br/>
            <a:r>
              <a:t>Payment Moratorium / Audit Freeze</a:t>
            </a:r>
            <a:br/>
            <a:r>
              <a:t>Evidence-Backed Due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3566160" cy="3977639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Detailed Proposed Solution</a:t>
            </a:r>
          </a:p>
          <a:p>
            <a:pPr>
              <a:spcBef>
                <a:spcPts val="300"/>
              </a:spcBef>
              <a:defRPr sz="900">
                <a:solidFill>
                  <a:srgbClr val="FFFFFF"/>
                </a:solidFill>
              </a:defRPr>
            </a:pPr>
            <a:r>
              <a:t>• Three Dedicated Portals: Unified platform connecting Citizen, Contractor, and Government Authority portals.</a:t>
            </a:r>
          </a:p>
          <a:p>
            <a:pPr>
              <a:spcBef>
                <a:spcPts val="300"/>
              </a:spcBef>
              <a:defRPr sz="900">
                <a:solidFill>
                  <a:srgbClr val="FFFFFF"/>
                </a:solidFill>
              </a:defRPr>
            </a:pPr>
            <a:r>
              <a:t>• Camera-Locked Ingestion: Monthly geo-tagged, timestamped progress photos captured exclusively through in-app camera.</a:t>
            </a:r>
          </a:p>
          <a:p>
            <a:pPr>
              <a:spcBef>
                <a:spcPts val="300"/>
              </a:spcBef>
              <a:defRPr sz="900">
                <a:solidFill>
                  <a:srgbClr val="FFFFFF"/>
                </a:solidFill>
              </a:defRPr>
            </a:pPr>
            <a:r>
              <a:t>• Multi-Modal AI Pipeline: CV image authenticity, duplicate detection, and visual progress estimation across 7 work sectors.</a:t>
            </a:r>
          </a:p>
          <a:p>
            <a:pPr>
              <a:spcBef>
                <a:spcPts val="300"/>
              </a:spcBef>
              <a:defRPr sz="900">
                <a:solidFill>
                  <a:srgbClr val="FFFFFF"/>
                </a:solidFill>
              </a:defRPr>
            </a:pPr>
            <a:r>
              <a:t>• Geospatial &amp; Financial Audit: GPS geofencing, budget vs. physical progress ratio, timeline milestone tracking, and citizen feedback.</a:t>
            </a:r>
          </a:p>
          <a:p>
            <a:pPr>
              <a:spcBef>
                <a:spcPts val="300"/>
              </a:spcBef>
              <a:defRPr sz="900">
                <a:solidFill>
                  <a:srgbClr val="FFFFFF"/>
                </a:solidFill>
              </a:defRPr>
            </a:pPr>
            <a:r>
              <a:t>• 0-100 Explainable Risk Score: Composite scoring with XAI attribution + natural language chatbot answering score change reasons.</a:t>
            </a:r>
          </a:p>
          <a:p>
            <a:pPr>
              <a:spcBef>
                <a:spcPts val="300"/>
              </a:spcBef>
              <a:defRPr sz="900">
                <a:solidFill>
                  <a:srgbClr val="FFFFFF"/>
                </a:solidFill>
              </a:defRPr>
            </a:pPr>
            <a:r>
              <a:t>• Official Action Dashboard: Surfaces high-risk anomalies, historical evidence, and statutory quota strain for prioritized spot-checks.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697480"/>
            <a:ext cx="3566160" cy="3977639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How It Addresses the Problem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Continuous vs Sporadic: Replaces irregular manual spot-checks with continuous, evidence-based tracking of outlay &amp; physical progress.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Autonomous Leakage Flagging: Automatically detects fake/reused photos, out-of-boundary GPS submissions, and progress-expenditure gaps.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Credibility-Weighted Feedback: Brings citizens into the loop as verified ground sensors while blocking false spam through reputation scoring.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Manpower-Optimized Oversight: Gives authorities a clear, prioritized triage list — scaling vigilance 10x without hiring additional manpower.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Prevents Ghost Assets: Stops repeated contractor billings on duplicate works within identical wards before release of tranches.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2697480"/>
            <a:ext cx="3566160" cy="3977639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Innovation and Uniqueness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Holistic Signal Fusion: Fuses CV + Geospatial + Financial + Timeline + NLP feedback into one unified, explainable index.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Sector-Specific CV Models: Tailored visual progress models per category (roads paving vs building structure vs tubewells excavation).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Immutable Audit Baseline: Tamper-proof locked project start date prevents silent timeline and milestone manipulation.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Zero Auto-Accusation Rule: System only ranks and surfaces evidence for human decision-makers, keeping constitutional due process intact.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Official Statutory Alignment: Deep integration with 543 Lok Sabha MP entitlement caps parsed from official MoSPI schedules.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8686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 bIns="73152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SLIDE 3 — TECHNICAL ARCHITECTURE &amp; FLOWCHART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System Architecture and Multi-Modal Intelligence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651760" cy="4937760"/>
          </a:xfrm>
          <a:prstGeom prst="roundRect">
            <a:avLst/>
          </a:prstGeom>
          <a:solidFill>
            <a:srgbClr val="12182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150" b="1">
                <a:solidFill>
                  <a:srgbClr val="3B82F6"/>
                </a:solidFill>
              </a:defRPr>
            </a:pPr>
            <a:r>
              <a:t>1. PORTAL LAYER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Contractor Mobile App (In-app camera)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Citizen Mobile App (Geo-grievance)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Official MoSPI Register (543 MPs, 36 States)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District Collectorate Sanction Feeds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64992" y="1371600"/>
            <a:ext cx="2651760" cy="4937760"/>
          </a:xfrm>
          <a:prstGeom prst="roundRect">
            <a:avLst/>
          </a:prstGeom>
          <a:solidFill>
            <a:srgbClr val="12182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150" b="1">
                <a:solidFill>
                  <a:srgbClr val="06B6D4"/>
                </a:solidFill>
              </a:defRPr>
            </a:pPr>
            <a:r>
              <a:t>2. INGESTION &amp; PIPELINE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Exif Metadata &amp; Timestamp Validator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GPS Geofencing Boundary Engine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Sub-word TF-IDF N-gram Indexing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Poisson Baseline Frequency Modeling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371600"/>
            <a:ext cx="2651760" cy="4937760"/>
          </a:xfrm>
          <a:prstGeom prst="roundRect">
            <a:avLst/>
          </a:prstGeom>
          <a:solidFill>
            <a:srgbClr val="1218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150" b="1">
                <a:solidFill>
                  <a:srgbClr val="F59E0B"/>
                </a:solidFill>
              </a:defRPr>
            </a:pPr>
            <a:r>
              <a:t>3. AI ANOMALY CORE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Computer Vision Progress Estimator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NLP Semantic Duplicate Detector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Isolation Forest Multi-Vector Scorer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Dynamic Risk Fusion (0-100 Score)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97696" y="1371600"/>
            <a:ext cx="2651760" cy="4937760"/>
          </a:xfrm>
          <a:prstGeom prst="roundRect">
            <a:avLst/>
          </a:prstGeom>
          <a:solidFill>
            <a:srgbClr val="12182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150" b="1">
                <a:solidFill>
                  <a:srgbClr val="10B981"/>
                </a:solidFill>
              </a:defRPr>
            </a:pPr>
            <a:r>
              <a:t>4. EXPLAINABILITY &amp; OUTPUT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SHAP-Aligned Feature Breakdown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Natural Language Chatbot Explainer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District Risk Heatmap &amp; Geo Pins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Payment Moratorium &amp; Audit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8686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 bIns="73152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SLIDE 4 — AI METHODOLOGY &amp; VERIFICATION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Sector-Specific CV Models &amp; Multi-Signal Fusion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40680" cy="2377440"/>
          </a:xfrm>
          <a:prstGeom prst="roundRect">
            <a:avLst/>
          </a:prstGeom>
          <a:solidFill>
            <a:srgbClr val="12182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Computer Vision (CV) Engine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Deep CNN / Vision Transformer fine-tuned on public works stages:</a:t>
            </a:r>
            <a:br/>
            <a:r>
              <a:t>• Roadworks: Earthwork -&gt; Sub-base -&gt; Bituminous Paving</a:t>
            </a:r>
            <a:br/>
            <a:r>
              <a:t>• Buildings: Foundation -&gt; Superstructure -&gt; Masonry -&gt; Finishing</a:t>
            </a:r>
            <a:br/>
            <a:r>
              <a:t>• Tubewells / Solar: Pump erection &amp; panel mounting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371600"/>
            <a:ext cx="5440680" cy="2377440"/>
          </a:xfrm>
          <a:prstGeom prst="roundRect">
            <a:avLst/>
          </a:prstGeom>
          <a:solidFill>
            <a:srgbClr val="12182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Financial &amp; Cost Overrun Engine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Statistical Z-score and Interquartile Range (IQR) vs. District Median:</a:t>
            </a:r>
            <a:br/>
            <a:r>
              <a:t>• Flags sanctions exceeding 1.8x - 2.5x regional baseline</a:t>
            </a:r>
            <a:br/>
            <a:r>
              <a:t>• Compares disbursed tranche % against reported physical progress</a:t>
            </a:r>
            <a:br/>
            <a:r>
              <a:t>• Detects premature payout releases before ground milestones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31920"/>
            <a:ext cx="5440680" cy="2377440"/>
          </a:xfrm>
          <a:prstGeom prst="roundRect">
            <a:avLst/>
          </a:prstGeom>
          <a:solidFill>
            <a:srgbClr val="1218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Geospatial &amp; Timeline Audit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GPS geofencing with 50-meter radius lock around sanctioned ward:</a:t>
            </a:r>
            <a:br/>
            <a:r>
              <a:t>• Timestamped Exif validation prevents re-upload of historical photos</a:t>
            </a:r>
            <a:br/>
            <a:r>
              <a:t>• Weibull &amp; Poisson hazard rates model expected milestone duration</a:t>
            </a:r>
            <a:br/>
            <a:r>
              <a:t>• Flags stalled idle funds with high disbursement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3931920"/>
            <a:ext cx="5440680" cy="2377440"/>
          </a:xfrm>
          <a:prstGeom prst="roundRect">
            <a:avLst/>
          </a:prstGeom>
          <a:solidFill>
            <a:srgbClr val="12182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Citizen Verification &amp; Anti-Abuse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Decentralized citizen auditing with reputation-weighted credibility scoring:</a:t>
            </a:r>
            <a:br/>
            <a:r>
              <a:t>• Geo-verified local resident feedback weighted higher</a:t>
            </a:r>
            <a:br/>
            <a:r>
              <a:t>• Rate limiting &amp; spam detection prevent malicious down-voting</a:t>
            </a:r>
            <a:br/>
            <a:r>
              <a:t>• Photographic citizen counter-evidence matched against contractor claims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8686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 bIns="73152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SLIDE 5 — IMPACT, TECH STACK &amp; ROADMAP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Impact, Feasibility and Implementation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566160" cy="49377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Measurable Governance Impact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100% Continuous Oversight: Replaces blind 5% spot-checks with automated monitoring of all 543 constituencies.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Est. ₹2,500+ Cr Leakage Prevented: Pre-clearance checks stop ghost billing and cost inflation before fund release.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80% Faster Audit Triage: Explanations and evidence ready instantly for District Collectors and MoSPI vigilance officers.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Public Trust &amp; Transparency: Citizens track fund utilization and ground reality in real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1371600"/>
            <a:ext cx="3566160" cy="49377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Modern &amp; Scalable Tech Stack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Backend Core: FastAPI (Python 3.14), asynchronous multi-worker architecture with Pydantic v2 validation.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AI/ML Pipeline: PyTorch CV models, Scikit-Learn Isolation Forest, Poisson Regression, TF-IDF N-grams, SHAP XAI.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Frontend UI: React 18, Vite, Tailwind CSS, Lucide Icons, Recharts interactive data visualization.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Database &amp; Storage: PostgreSQL + PostGIS (Geospatial), Redis (Real-time scoring cache), AWS S3 / MinIO (Encrypted photos).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74152" y="1371600"/>
            <a:ext cx="3566160" cy="49377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SIH Implementation Roadmap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Phase 1 (SIH Prototype): 543 Lok Sabha MPs parsed, Multi-Vector Statistical &amp; NLP Duplicate Engine, Live Proposal Simulator.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Phase 2 (Pilot Deployment): Rollout in 5 high-anomaly districts with Contractor Camera-Locked App &amp; Citizen feedback.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Phase 3 (State-Wide Scale): Integration with Public Financial Management System (PFMS) for automated moratorium triggers.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• Phase 4 (National MoSPI Deployment): Full pan-India live vigilance for all Central Sector &amp; Centrally Sponsored Schemes.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